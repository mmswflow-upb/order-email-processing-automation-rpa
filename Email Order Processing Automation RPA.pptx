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2"/>
  </p:notesMasterIdLst>
  <p:sldIdLst>
    <p:sldId id="256" r:id="rId2"/>
    <p:sldId id="257" r:id="rId3"/>
    <p:sldId id="266" r:id="rId4"/>
    <p:sldId id="267" r:id="rId5"/>
    <p:sldId id="270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387" autoAdjust="0"/>
  </p:normalViewPr>
  <p:slideViewPr>
    <p:cSldViewPr snapToGrid="0">
      <p:cViewPr varScale="1">
        <p:scale>
          <a:sx n="89" d="100"/>
          <a:sy n="89" d="100"/>
        </p:scale>
        <p:origin x="14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DC116-9118-41B1-986F-C113A659004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FE3F59-B45A-4BD5-B359-612AFB179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198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Welcome the audience and introduce the project title as Email Order Processing Automation.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 that the goal is to transform manual, repetitive tasks into a streamlined digital workflow.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 that the solution is built entirely on a local stack using UiPath, Outlook, and Microsoft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Introduce the team members Mohamad Mario, Abdelrahman, Azzam, and Essam who contributed to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E3F59-B45A-4BD5-B359-612AFB1795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754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“Today, manual order processing is a major bottleneck for the business.”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“We spend too much time opening emails and manually extracting order data.”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“Copying into Excel creates errors — typos, missed lines, wrong quantities.”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“There’s little traceability, so tracking order history is difficult and slow.”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“And in a busy inbox, high-priority orders get buried and responses get delayed.”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“So the impact is speed, accuracy, visibility, and customer responsiveness.”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E3F59-B45A-4BD5-B359-612AFB1795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6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“Now let’s look at the solution: a robust RPA framework that automates the full order lifecycle end-to-end.”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“The bot continuously monitors the inbox and instantly detects new orders by scanning for specific keywords.”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“It then extracts the order details flexibly — whether the content is labeled text, a CSV attachment, or a pipe-delimited format.”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“As soon as the data is captured, it updates the local restock spreadsheet immediately, so inventory stays current.”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“And finally, it automatically sends a confirmation email, so customers get instant feedback that their order was received and processed.”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E3F59-B45A-4BD5-B359-612AFB1795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84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“This slide compares the main ways companies implement automation — and why the approach matters.”</a:t>
            </a:r>
          </a:p>
          <a:p>
            <a:r>
              <a:rPr lang="en-US" dirty="0"/>
              <a:t>“Our RPA solution is about </a:t>
            </a:r>
            <a:r>
              <a:rPr lang="en-US" i="1" dirty="0"/>
              <a:t>meeting the business where it is</a:t>
            </a:r>
            <a:r>
              <a:rPr lang="en-US" dirty="0"/>
              <a:t> — we automate the tools you already use, like Outlook Classic and Excel, without forcing a migration.”</a:t>
            </a:r>
          </a:p>
          <a:p>
            <a:r>
              <a:rPr lang="en-US" dirty="0"/>
              <a:t>“API-based tools like Zapier or Power Automate are popular, but they often struggle with local desktop versions, locked environments, or custom Excel macros.”</a:t>
            </a:r>
          </a:p>
          <a:p>
            <a:r>
              <a:rPr lang="en-US" dirty="0"/>
              <a:t>“Outsourced portals like Ariba or Coupa can work, but they’re expensive — and they force customers to use a separate system just to place an order.”</a:t>
            </a:r>
          </a:p>
          <a:p>
            <a:r>
              <a:rPr lang="en-US" dirty="0"/>
              <a:t>“Custom middleware or EDI is what large enterprises do, but it usually means a big IT budget and months of setup and maintenance.”</a:t>
            </a:r>
          </a:p>
          <a:p>
            <a:r>
              <a:rPr lang="en-US" dirty="0"/>
              <a:t>“The key advantage of RPA is that it can </a:t>
            </a:r>
            <a:r>
              <a:rPr lang="en-US" i="1" dirty="0"/>
              <a:t>act</a:t>
            </a:r>
            <a:r>
              <a:rPr lang="en-US" dirty="0"/>
              <a:t> across disconnected desktop apps like a human — not just detect patterns.”</a:t>
            </a:r>
          </a:p>
          <a:p>
            <a:r>
              <a:rPr lang="en-US" dirty="0"/>
              <a:t>“So overall, RPA gives the best balance of automation power, local security, and low cost.”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E3F59-B45A-4BD5-B359-612AFB1795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385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“Here we’re using a </a:t>
            </a:r>
            <a:r>
              <a:rPr lang="en-US" b="1" dirty="0"/>
              <a:t>local-first architecture</a:t>
            </a:r>
            <a:r>
              <a:rPr lang="en-US" dirty="0"/>
              <a:t> — we chose it for speed, reliability, and data security, because sensitive order data never needs to leave the workstation.”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“At the core is </a:t>
            </a:r>
            <a:r>
              <a:rPr lang="en-US" b="1" dirty="0"/>
              <a:t>UiPath Studio</a:t>
            </a:r>
            <a:r>
              <a:rPr lang="en-US" dirty="0"/>
              <a:t>, which we use to build modular, stable automation sequences that are easy to maintain and extend.”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“The bot integrates directly with </a:t>
            </a:r>
            <a:r>
              <a:rPr lang="en-US" b="1" dirty="0"/>
              <a:t>Outlook Classic on the desktop</a:t>
            </a:r>
            <a:r>
              <a:rPr lang="en-US" dirty="0"/>
              <a:t>, so it can monitor the inbox, read unread orders, and route emails without relying on cloud connectors.”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“For tracking, </a:t>
            </a:r>
            <a:r>
              <a:rPr lang="en-US" b="1" dirty="0"/>
              <a:t>Microsoft Excel acts as the local database</a:t>
            </a:r>
            <a:r>
              <a:rPr lang="en-US" dirty="0"/>
              <a:t> — it stores the restock sheet and also keeps audit logs so we can trace what happened for every order.”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“And the key point is: </a:t>
            </a:r>
            <a:r>
              <a:rPr lang="en-US" b="1" dirty="0"/>
              <a:t>all processing runs locally on a Windows 11 machine</a:t>
            </a:r>
            <a:r>
              <a:rPr lang="en-US" dirty="0"/>
              <a:t> — so there’s zero cloud dependency and maximum control over data.”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E3F59-B45A-4BD5-B359-612AFB1795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91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“This slide is about the business logic — we use </a:t>
            </a:r>
            <a:r>
              <a:rPr lang="en-US" b="1" dirty="0"/>
              <a:t>deterministic rules</a:t>
            </a:r>
            <a:r>
              <a:rPr lang="en-US" dirty="0"/>
              <a:t> so high-value orders automatically get prioritized, every time.”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“First, we classify an order as </a:t>
            </a:r>
            <a:r>
              <a:rPr lang="en-US" b="1" dirty="0" err="1"/>
              <a:t>HighPriority</a:t>
            </a:r>
            <a:r>
              <a:rPr lang="en-US" dirty="0"/>
              <a:t> when the order total exceeds a defined price threshold — that’s how we fast-track urgent, high-value requests.”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“Everything else that’s valid and clearly </a:t>
            </a:r>
            <a:r>
              <a:rPr lang="en-US" dirty="0" err="1"/>
              <a:t>parseable</a:t>
            </a:r>
            <a:r>
              <a:rPr lang="en-US" dirty="0"/>
              <a:t> is treated as </a:t>
            </a:r>
            <a:r>
              <a:rPr lang="en-US" b="1" dirty="0"/>
              <a:t>Standard</a:t>
            </a:r>
            <a:r>
              <a:rPr lang="en-US" dirty="0"/>
              <a:t> and processed normally.”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“If something is unclear or incomplete, it’s flagged as </a:t>
            </a:r>
            <a:r>
              <a:rPr lang="en-US" b="1" dirty="0" err="1"/>
              <a:t>NeedInfo</a:t>
            </a:r>
            <a:r>
              <a:rPr lang="en-US" dirty="0"/>
              <a:t> and routed for </a:t>
            </a:r>
            <a:r>
              <a:rPr lang="en-US" b="1" dirty="0"/>
              <a:t>manual review</a:t>
            </a:r>
            <a:r>
              <a:rPr lang="en-US" dirty="0"/>
              <a:t> so we don’t risk bad data entering the system.”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“Then we enforce it operationally with folder routing: emails are automatically sorted into </a:t>
            </a:r>
            <a:r>
              <a:rPr lang="en-US" b="1" dirty="0"/>
              <a:t>Processed</a:t>
            </a:r>
            <a:r>
              <a:rPr lang="en-US" dirty="0"/>
              <a:t>, </a:t>
            </a:r>
            <a:r>
              <a:rPr lang="en-US" b="1" dirty="0"/>
              <a:t>Priority</a:t>
            </a:r>
            <a:r>
              <a:rPr lang="en-US" dirty="0"/>
              <a:t>, or </a:t>
            </a:r>
            <a:r>
              <a:rPr lang="en-US" b="1" dirty="0"/>
              <a:t>Manual Review</a:t>
            </a:r>
            <a:r>
              <a:rPr lang="en-US" dirty="0"/>
              <a:t> folders.”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“The outcome is simple: </a:t>
            </a:r>
            <a:r>
              <a:rPr lang="en-US" b="1" dirty="0"/>
              <a:t>no order gets lost</a:t>
            </a:r>
            <a:r>
              <a:rPr lang="en-US" dirty="0"/>
              <a:t>, and the most valuable orders consistently receive the fastest attention.”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E3F59-B45A-4BD5-B359-612AFB1795B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49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“This slide covers delivery and ETA — the goal is transparency, so customers immediately know when to expect fulfillment.”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“The system automatically calculates the ETA by taking today’s date and applying a delivery rule based on the order type.”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“For </a:t>
            </a:r>
            <a:r>
              <a:rPr lang="en-US" b="1" dirty="0"/>
              <a:t>Fast Delivery</a:t>
            </a:r>
            <a:r>
              <a:rPr lang="en-US" dirty="0"/>
              <a:t>, which applies to priority orders, we add a shorter lead time — so high-priority customers get a faster estimated date.”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“For </a:t>
            </a:r>
            <a:r>
              <a:rPr lang="en-US" b="1" dirty="0"/>
              <a:t>Slow Delivery</a:t>
            </a:r>
            <a:r>
              <a:rPr lang="en-US" dirty="0"/>
              <a:t>, we trigger a longer lead time when item quantities are high, to manage expectations realistically.”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“Those ETAs are then automatically inserted into the confirmation email, so the customer gets the estimate instantly without anyone writing it manually.”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“The result is consistent, accurate communication — and that builds customer trust because updates are fast and predictable.”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E3F59-B45A-4BD5-B359-612AFB1795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18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“This slide is about reliability — the system is designed to be failsafe, with clear exception handling and full logging.”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“If the bot hits an error, it doesn’t stop the whole workflow — the email is isolated into a </a:t>
            </a:r>
            <a:r>
              <a:rPr lang="en-US" b="1" dirty="0"/>
              <a:t>Failed</a:t>
            </a:r>
            <a:r>
              <a:rPr lang="en-US" dirty="0"/>
              <a:t> folder so processing can continue while the issue is investigated.”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“If an order is ambiguous, it’s routed to </a:t>
            </a:r>
            <a:r>
              <a:rPr lang="en-US" b="1" dirty="0" err="1"/>
              <a:t>NeedInfo</a:t>
            </a:r>
            <a:r>
              <a:rPr lang="en-US" dirty="0"/>
              <a:t> for manual review, so we never risk losing data or processing the wrong information.”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“On the file side, every attachment is logged and stored in a </a:t>
            </a:r>
            <a:r>
              <a:rPr lang="en-US" b="1" dirty="0"/>
              <a:t>timestamped subfolder</a:t>
            </a:r>
            <a:r>
              <a:rPr lang="en-US" dirty="0"/>
              <a:t>, so we always have the exact input that was processed.”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“And we maintain an </a:t>
            </a:r>
            <a:r>
              <a:rPr lang="en-US" b="1" dirty="0"/>
              <a:t>Audit Log</a:t>
            </a:r>
            <a:r>
              <a:rPr lang="en-US" dirty="0"/>
              <a:t> that records each transaction with a timestamp, status, and outcome — giving us full traceability end-to-end.”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“Finally, before the bot starts, it runs </a:t>
            </a:r>
            <a:r>
              <a:rPr lang="en-US" b="1" dirty="0"/>
              <a:t>pre-flight checks</a:t>
            </a:r>
            <a:r>
              <a:rPr lang="en-US" dirty="0"/>
              <a:t> to confirm file access and that required applications are ready, which prevents avoidable runtime failures.”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E3F59-B45A-4BD5-B359-612AFB1795B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492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“To close, this slide shows the roadmap — how we can scale the system beyond the current implementation.”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“First, we plan to expand input support by adding OCR, so the bot can process PDF attachments and even scanned order forms.”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“Second, we can build local analytics dashboards from the audit logs — so we can track order volume, processing time, exception rates, and overall efficiency.”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“Third, as usage grows, we can transition from Excel to a local SQLite database to improve data integrity, concurrency, and long-term maintainability.”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“And because the solution is modular, we can also add real-time inventory checks as a future integration — so validation happens automatically during processing.”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E3F59-B45A-4BD5-B359-612AFB1795B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9111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“To wrap up, the core benefits are simple: we improve </a:t>
            </a:r>
            <a:r>
              <a:rPr lang="en-US" b="1" dirty="0"/>
              <a:t>efficiency</a:t>
            </a:r>
            <a:r>
              <a:rPr lang="en-US" dirty="0"/>
              <a:t>, reduce </a:t>
            </a:r>
            <a:r>
              <a:rPr lang="en-US" b="1" dirty="0"/>
              <a:t>errors</a:t>
            </a:r>
            <a:r>
              <a:rPr lang="en-US" dirty="0"/>
              <a:t>, and increase </a:t>
            </a:r>
            <a:r>
              <a:rPr lang="en-US" b="1" dirty="0"/>
              <a:t>reliability</a:t>
            </a:r>
            <a:r>
              <a:rPr lang="en-US" dirty="0"/>
              <a:t> through automation.”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“This is professional-grade RPA that runs locally — on a standard desktop — so we get strong performance and control with zero cloud dependency.”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“Thank you for your time — I’ll stop here and open it up for questions.”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“And if it helps, I’m happy to go deeper on the technical implementation, the business logic, or why we chose a local-first approach.”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E3F59-B45A-4BD5-B359-612AFB1795B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429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378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460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2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13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2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98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38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50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829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8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18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E221525-1329-4A6B-904E-CB13DDDCB9F1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B0C26B5-AD0E-4A47-909C-BD7811373A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515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EEEEC-2B78-39DC-AFE8-F77B3A6FE5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479" y="916140"/>
            <a:ext cx="4443154" cy="108781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/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Email Order Processing Automation RPA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C53311-F043-E5B2-6874-9EF61B813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Sakka Mohamad-Mario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Zafar Azzam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Al-</a:t>
            </a:r>
            <a:r>
              <a:rPr lang="en-US" sz="1800" dirty="0" err="1"/>
              <a:t>Khalidy</a:t>
            </a:r>
            <a:r>
              <a:rPr lang="en-US" sz="1800" dirty="0"/>
              <a:t> Essam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/>
              <a:t>Mahmoud Abdelrahman</a:t>
            </a:r>
          </a:p>
        </p:txBody>
      </p:sp>
      <p:pic>
        <p:nvPicPr>
          <p:cNvPr id="1028" name="Picture 4" descr="UiPath Logo and symbol, meaning, history, PNG, brand">
            <a:extLst>
              <a:ext uri="{FF2B5EF4-FFF2-40B4-BE49-F238E27FC236}">
                <a16:creationId xmlns:a16="http://schemas.microsoft.com/office/drawing/2014/main" id="{9DA939D3-A530-34DD-7F5B-16E999543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85816" y="1589954"/>
            <a:ext cx="6209544" cy="349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72083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15413-791F-2FF6-D806-E8D00CF69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Problem: </a:t>
            </a:r>
            <a:b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Manual Bottlenecks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47CAFD7-E59D-CE4A-8FEF-1DF45D3A22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 dirty="0"/>
              <a:t>Manual order processing creates significant operational challenges that hinder business growth and efficiency:</a:t>
            </a:r>
          </a:p>
          <a:p>
            <a:endParaRPr lang="en-US" sz="1500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dirty="0"/>
              <a:t>High manual effort required for reading emails</a:t>
            </a:r>
            <a:br>
              <a:rPr lang="en-US" sz="1500" dirty="0"/>
            </a:br>
            <a:r>
              <a:rPr lang="en-US" sz="1500" dirty="0"/>
              <a:t>and extracting data.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dirty="0"/>
              <a:t>Accuracy risks associated with manual data entry into Excel sheets.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dirty="0"/>
              <a:t>Traceability gaps in tracking processed orders and attachments.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500" dirty="0"/>
              <a:t>Response delays for high-value orders due to manual queues.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6DD889A-F332-464C-DB6A-C06A27BF43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0388" y="625683"/>
            <a:ext cx="5551280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2512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53DDB4-5D9A-234E-6DDD-0C126888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14D85B-509D-7FE3-2A5A-7BB9605B3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8D725B-CFA7-3B75-66FE-4BF21CFAB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Solution: Automated 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37A21A-25C4-43B5-B3F2-A37B5B741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C5BDAC-6895-EF39-0182-2258C2F8E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1EBF0A-3F36-1900-A048-EDA56DAA8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 dirty="0"/>
              <a:t>A robust RPA-based automation framework designed to transform manual email order handling into a seamless, local workflow:</a:t>
            </a:r>
          </a:p>
          <a:p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Automated detection of order emails using keywords.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Reliable extraction from Labeled, CSV, and Pipe formats.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Instant updates to the local restock spreadsheet.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Intelligent routing to Processed or Priority folders.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396208A-1347-F857-4FBD-F26879E598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30388" y="625683"/>
            <a:ext cx="5551280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91872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AE3AD-48CF-6763-5B42-77356C775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A14B2F9-A7C9-ACE9-D3E6-A860AF18A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A5A793-6853-A0A6-EBE0-886E4F48F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Implementation Approaches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CF0FAE-595E-1599-3A32-7A05477B4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26ADA0-1352-BD37-FB57-F55CCB9D3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4E4A38-11DF-CA45-232F-4CD28D8B0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4"/>
            <a:ext cx="6613264" cy="3945305"/>
          </a:xfrm>
        </p:spPr>
        <p:txBody>
          <a:bodyPr vert="horz" lIns="91440" tIns="45720" rIns="91440" bIns="4572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Our RPA Solution:</a:t>
            </a:r>
            <a:r>
              <a:rPr lang="en-US" dirty="0">
                <a:solidFill>
                  <a:schemeClr val="accent4"/>
                </a:solidFill>
              </a:rPr>
              <a:t> </a:t>
            </a:r>
            <a:r>
              <a:rPr lang="en-US" dirty="0"/>
              <a:t>Focuses on "Surface Integration" using </a:t>
            </a:r>
            <a:r>
              <a:rPr lang="en-US" b="1" dirty="0"/>
              <a:t>UiPath</a:t>
            </a:r>
            <a:r>
              <a:rPr lang="en-US" dirty="0"/>
              <a:t> to work with the software you already have, such as </a:t>
            </a:r>
            <a:r>
              <a:rPr lang="en-US" b="1" dirty="0"/>
              <a:t>Outlook Classic</a:t>
            </a:r>
            <a:r>
              <a:rPr lang="en-US" dirty="0"/>
              <a:t> and </a:t>
            </a:r>
            <a:r>
              <a:rPr lang="en-US" b="1" dirty="0"/>
              <a:t>Excel</a:t>
            </a:r>
            <a:r>
              <a:rPr lang="en-US" dirty="0"/>
              <a:t>, without needing to change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API-Based Integration:</a:t>
            </a:r>
            <a:r>
              <a:rPr lang="en-US" dirty="0">
                <a:solidFill>
                  <a:schemeClr val="accent4"/>
                </a:solidFill>
              </a:rPr>
              <a:t> </a:t>
            </a:r>
            <a:r>
              <a:rPr lang="en-US" dirty="0"/>
              <a:t>Requires software to have "open doors" or APIs to communicate, which tools like </a:t>
            </a:r>
            <a:r>
              <a:rPr lang="en-US" b="1" dirty="0"/>
              <a:t>Zapier</a:t>
            </a:r>
            <a:r>
              <a:rPr lang="en-US" dirty="0"/>
              <a:t>, </a:t>
            </a:r>
            <a:r>
              <a:rPr lang="en-US" b="1" dirty="0"/>
              <a:t>Make.com</a:t>
            </a:r>
            <a:r>
              <a:rPr lang="en-US" dirty="0"/>
              <a:t>, or </a:t>
            </a:r>
            <a:r>
              <a:rPr lang="en-US" b="1" dirty="0"/>
              <a:t>Power Automate Cloud</a:t>
            </a:r>
            <a:r>
              <a:rPr lang="en-US" dirty="0"/>
              <a:t> use, but many local or older desktop versions do not support these connections.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Outsourced Portals:</a:t>
            </a:r>
            <a:r>
              <a:rPr lang="en-US" dirty="0">
                <a:solidFill>
                  <a:schemeClr val="accent4"/>
                </a:solidFill>
              </a:rPr>
              <a:t> </a:t>
            </a:r>
            <a:r>
              <a:rPr lang="en-US" dirty="0"/>
              <a:t>Moves the work to a third-party website like </a:t>
            </a:r>
            <a:r>
              <a:rPr lang="en-US" b="1" dirty="0"/>
              <a:t>SAP Ariba</a:t>
            </a:r>
            <a:r>
              <a:rPr lang="en-US" dirty="0"/>
              <a:t>, </a:t>
            </a:r>
            <a:r>
              <a:rPr lang="en-US" b="1" dirty="0"/>
              <a:t>Coupa</a:t>
            </a:r>
            <a:r>
              <a:rPr lang="en-US" dirty="0"/>
              <a:t>, or </a:t>
            </a:r>
            <a:r>
              <a:rPr lang="en-US" b="1" dirty="0"/>
              <a:t>Oracle NetSuite</a:t>
            </a:r>
            <a:r>
              <a:rPr lang="en-US" dirty="0"/>
              <a:t>, which takes the data out of your direct control and adds recurring subscription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4"/>
                </a:solidFill>
              </a:rPr>
              <a:t>Custom Middleware:</a:t>
            </a:r>
            <a:r>
              <a:rPr lang="en-US" dirty="0">
                <a:solidFill>
                  <a:schemeClr val="accent4"/>
                </a:solidFill>
              </a:rPr>
              <a:t> </a:t>
            </a:r>
            <a:r>
              <a:rPr lang="en-US" dirty="0"/>
              <a:t>Involves building separate "bridge" software using platforms like </a:t>
            </a:r>
            <a:r>
              <a:rPr lang="en-US" b="1" dirty="0"/>
              <a:t>MuleSoft</a:t>
            </a:r>
            <a:r>
              <a:rPr lang="en-US" dirty="0"/>
              <a:t>, </a:t>
            </a:r>
            <a:r>
              <a:rPr lang="en-US" b="1" dirty="0"/>
              <a:t>IBM App Connect</a:t>
            </a:r>
            <a:r>
              <a:rPr lang="en-US" dirty="0"/>
              <a:t>, or </a:t>
            </a:r>
            <a:r>
              <a:rPr lang="en-US" b="1" dirty="0"/>
              <a:t>Custom Python Scripts</a:t>
            </a:r>
            <a:r>
              <a:rPr lang="en-US" dirty="0"/>
              <a:t>, which is expensive to develop and requires a dedicated IT team to maintain.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36DD3D7-95F1-D047-9538-3EC102709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368" y="1942355"/>
            <a:ext cx="4047206" cy="4047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09469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25961-7C55-4EEA-D917-1914C19F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FF5A19-D731-5A7F-2570-4965C0F65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1B40B-7E9F-48E9-9A25-FE055C90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Implementation: </a:t>
            </a:r>
            <a:br>
              <a:rPr lang="en-US" b="1" dirty="0">
                <a:solidFill>
                  <a:srgbClr val="FFFFFF"/>
                </a:solidFill>
              </a:rPr>
            </a:br>
            <a:r>
              <a:rPr lang="en-US" b="1" dirty="0">
                <a:solidFill>
                  <a:srgbClr val="FFFFFF"/>
                </a:solidFill>
              </a:rPr>
              <a:t>Local Automation Stack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998E18-8FE5-E2CB-2ADD-9E814877A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57C3BDF-E5FF-7D69-D973-1148F96A0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B0D8660-9F6D-96BC-3CBD-ECB51A37F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0108"/>
            <a:ext cx="4855845" cy="42015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dirty="0"/>
              <a:t>The system leverages a robust, local technology stack to ensure high performance, security, and seamless integration with existing desktop tools.</a:t>
            </a:r>
          </a:p>
          <a:p>
            <a:pPr>
              <a:lnSpc>
                <a:spcPct val="100000"/>
              </a:lnSpc>
            </a:pPr>
            <a:endParaRPr lang="en-US" sz="1500" dirty="0"/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UiPath Studio: </a:t>
            </a:r>
            <a:r>
              <a:rPr lang="en-US" sz="1500" dirty="0"/>
              <a:t>The core engine used to build modular and stable automation sequences.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Outlook Classic: </a:t>
            </a:r>
            <a:r>
              <a:rPr lang="en-US" sz="1500" dirty="0"/>
              <a:t>Direct local integration for fetching</a:t>
            </a:r>
            <a:br>
              <a:rPr lang="en-US" sz="1500" dirty="0"/>
            </a:br>
            <a:r>
              <a:rPr lang="en-US" sz="1500" dirty="0"/>
              <a:t>unread order emails and routing.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Microsoft Excel: </a:t>
            </a:r>
            <a:r>
              <a:rPr lang="en-US" sz="1500" dirty="0"/>
              <a:t>Local storage and management of the restock spreadsheet and audit logs.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Local Security: </a:t>
            </a:r>
            <a:r>
              <a:rPr lang="en-US" sz="1500" dirty="0"/>
              <a:t>All data processing and storage </a:t>
            </a:r>
            <a:r>
              <a:rPr lang="en-US" dirty="0"/>
              <a:t>remain on</a:t>
            </a:r>
            <a:r>
              <a:rPr lang="en-US" sz="1500" dirty="0"/>
              <a:t> the workstation for maximum control.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31D0C62-88B2-1B63-E82B-1BF95CED3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23342" y="1553798"/>
            <a:ext cx="1987732" cy="1882921"/>
          </a:xfrm>
          <a:prstGeom prst="rect">
            <a:avLst/>
          </a:prstGeom>
        </p:spPr>
      </p:pic>
      <p:pic>
        <p:nvPicPr>
          <p:cNvPr id="3" name="Graphic 10">
            <a:extLst>
              <a:ext uri="{FF2B5EF4-FFF2-40B4-BE49-F238E27FC236}">
                <a16:creationId xmlns:a16="http://schemas.microsoft.com/office/drawing/2014/main" id="{1E6DE670-E621-396D-02C2-9E7B8D605B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6265" y="1735152"/>
            <a:ext cx="1987732" cy="1847007"/>
          </a:xfrm>
          <a:prstGeom prst="rect">
            <a:avLst/>
          </a:prstGeom>
        </p:spPr>
      </p:pic>
      <p:pic>
        <p:nvPicPr>
          <p:cNvPr id="4" name="Picture 4" descr="UiPath Logo and symbol, meaning, history, PNG, brand">
            <a:extLst>
              <a:ext uri="{FF2B5EF4-FFF2-40B4-BE49-F238E27FC236}">
                <a16:creationId xmlns:a16="http://schemas.microsoft.com/office/drawing/2014/main" id="{A68F70C7-B4F7-5621-B7BC-990541504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3342" y="3582159"/>
            <a:ext cx="4340655" cy="2277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55723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B24F32-480F-9FC5-6F88-A1F34FC54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F22C6CF-1ECF-F0B7-7E43-92910CC75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408C80-82FE-F154-44E5-DA07D74E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Business Logic: Priority &amp; Routing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94DB1F-36D8-196D-9C16-EE2A214E4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0DC564-853D-ED47-50E5-9C2E850AF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98A689-AEA2-6C84-88AA-4318115A9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0108"/>
            <a:ext cx="4855845" cy="4201588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1500" dirty="0"/>
              <a:t>The system applies deterministic rules to categorize orders and manage email workflow automatically.</a:t>
            </a:r>
          </a:p>
          <a:p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chemeClr val="accent4"/>
                </a:solidFill>
              </a:rPr>
              <a:t>HighPriority</a:t>
            </a:r>
            <a:r>
              <a:rPr lang="en-US" sz="1500" dirty="0"/>
              <a:t> is assigned when order totals exceed the "Fast Delivery" price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Standard</a:t>
            </a:r>
            <a:r>
              <a:rPr lang="en-US" sz="1500" dirty="0"/>
              <a:t> status is the default for all other valid, </a:t>
            </a:r>
            <a:r>
              <a:rPr lang="en-US" sz="1500" dirty="0" err="1"/>
              <a:t>parseable</a:t>
            </a:r>
            <a:r>
              <a:rPr lang="en-US" sz="1500" dirty="0"/>
              <a:t>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chemeClr val="accent4"/>
                </a:solidFill>
              </a:rPr>
              <a:t>NeedInfo</a:t>
            </a:r>
            <a:r>
              <a:rPr lang="en-US" sz="1500" b="1" dirty="0">
                <a:solidFill>
                  <a:schemeClr val="accent4"/>
                </a:solidFill>
              </a:rPr>
              <a:t> </a:t>
            </a:r>
            <a:r>
              <a:rPr lang="en-US" sz="1500" dirty="0"/>
              <a:t>routing</a:t>
            </a:r>
            <a:r>
              <a:rPr lang="en-US" sz="1500" b="1" dirty="0">
                <a:solidFill>
                  <a:schemeClr val="accent4"/>
                </a:solidFill>
              </a:rPr>
              <a:t> </a:t>
            </a:r>
            <a:r>
              <a:rPr lang="en-US" sz="1500" dirty="0"/>
              <a:t>flags ambiguous orders for manual review to prevent data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Outcome</a:t>
            </a:r>
            <a:r>
              <a:rPr lang="en-US" sz="1500" dirty="0"/>
              <a:t> folders ensure clear separation between processed,</a:t>
            </a:r>
            <a:r>
              <a:rPr lang="en-US" sz="1500" dirty="0">
                <a:solidFill>
                  <a:schemeClr val="accent4"/>
                </a:solidFill>
              </a:rPr>
              <a:t> </a:t>
            </a:r>
            <a:r>
              <a:rPr lang="en-US" sz="1500" dirty="0"/>
              <a:t>high priority, and manual review items.</a:t>
            </a:r>
          </a:p>
          <a:p>
            <a:endParaRPr lang="en-US" sz="14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7BACA15-F948-6C67-EC03-E905A571A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63332" y="1441998"/>
            <a:ext cx="3974003" cy="397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244220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59DC9F-9FD1-5927-FE3F-3E07EDCF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983609F-A1D9-35C6-B62A-0A04D00FA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5681E-525B-16D4-7B02-E2E65CAB6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Business Logic: Delivery &amp; ETA</a:t>
            </a:r>
            <a:endParaRPr lang="en-US" sz="3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1921E8-5FDA-D172-2580-ED9D60791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8849C7-A674-24AF-843C-F58635296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6C38AF0-ADA4-8EBA-63DC-BBCBE196B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0108"/>
            <a:ext cx="4855845" cy="42015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dirty="0"/>
              <a:t>The system automatically computes delivery estimates to provide customers with accurate and timely order fulfillment information.</a:t>
            </a:r>
          </a:p>
          <a:p>
            <a:pPr>
              <a:lnSpc>
                <a:spcPct val="100000"/>
              </a:lnSpc>
            </a:pPr>
            <a:endParaRPr lang="en-US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Fast Delivery: </a:t>
            </a:r>
            <a:r>
              <a:rPr lang="en-US" sz="1500" dirty="0">
                <a:solidFill>
                  <a:srgbClr val="E2E8F0"/>
                </a:solidFill>
              </a:rPr>
              <a:t>Today plus Fast days (applied to all high priority orders).</a:t>
            </a:r>
            <a:endParaRPr lang="en-US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Slow Delivery: </a:t>
            </a:r>
            <a:r>
              <a:rPr lang="en-US" sz="1500" dirty="0">
                <a:solidFill>
                  <a:srgbClr val="E2E8F0"/>
                </a:solidFill>
              </a:rPr>
              <a:t>Today plus Slow days (applied to orders with high item quantities).</a:t>
            </a:r>
            <a:endParaRPr lang="en-US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Standard Delivery: </a:t>
            </a:r>
            <a:r>
              <a:rPr lang="en-US" sz="1500" dirty="0">
                <a:solidFill>
                  <a:srgbClr val="E2E8F0"/>
                </a:solidFill>
              </a:rPr>
              <a:t>Today plus Slow days (applied to orders with high item quantities).</a:t>
            </a:r>
            <a:endParaRPr lang="en-US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Automated Communication: </a:t>
            </a:r>
            <a:r>
              <a:rPr lang="en-US" sz="1500" dirty="0">
                <a:solidFill>
                  <a:srgbClr val="E2E8F0"/>
                </a:solidFill>
              </a:rPr>
              <a:t>Estimates are included in the instant email reply sent to the customer.</a:t>
            </a:r>
            <a:endParaRPr lang="en-US" sz="1500" dirty="0"/>
          </a:p>
          <a:p>
            <a:endParaRPr lang="en-US" sz="15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6E0AC6B4-AA11-24ED-4497-511AF0808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7790" y="1206326"/>
            <a:ext cx="4742099" cy="474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69738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CE899-D841-CA8D-2E90-5B990D22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67A8BEE-F131-BE7C-9D39-002944477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EFA6F7-3475-B298-72A9-E66AD218E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Reliability: Exception Handling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43D111-31F3-D88E-429E-A1808E226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8B7769-7E36-93A3-36BA-2C0A99DBB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9DD153-582E-D1E8-090F-E25352A7F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0108"/>
            <a:ext cx="4855845" cy="42015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E2E8F0"/>
                </a:solidFill>
              </a:rPr>
              <a:t>The system ensures data integrity and operational continuity through intelligent exception management and comprehensive logging.</a:t>
            </a:r>
          </a:p>
          <a:p>
            <a:pPr>
              <a:lnSpc>
                <a:spcPct val="100000"/>
              </a:lnSpc>
            </a:pPr>
            <a:endParaRPr lang="en-US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 err="1">
                <a:solidFill>
                  <a:schemeClr val="accent4"/>
                </a:solidFill>
              </a:rPr>
              <a:t>NeedInfo</a:t>
            </a:r>
            <a:r>
              <a:rPr lang="en-US" sz="1500" b="1" dirty="0">
                <a:solidFill>
                  <a:schemeClr val="accent4"/>
                </a:solidFill>
              </a:rPr>
              <a:t> Routing: </a:t>
            </a:r>
            <a:r>
              <a:rPr lang="en-US" sz="1500" dirty="0">
                <a:solidFill>
                  <a:srgbClr val="E2E8F0"/>
                </a:solidFill>
              </a:rPr>
              <a:t>Flagging ambiguous orders for manual review.</a:t>
            </a:r>
            <a:endParaRPr lang="en-US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Failed Folder: </a:t>
            </a:r>
            <a:r>
              <a:rPr lang="en-US" sz="1500" dirty="0">
                <a:solidFill>
                  <a:srgbClr val="E2E8F0"/>
                </a:solidFill>
              </a:rPr>
              <a:t>Isolating system errors for immediate troubleshooting.</a:t>
            </a:r>
            <a:endParaRPr lang="en-US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Outcome Folders: </a:t>
            </a:r>
            <a:r>
              <a:rPr lang="en-US" sz="1500" dirty="0">
                <a:solidFill>
                  <a:srgbClr val="E2E8F0"/>
                </a:solidFill>
              </a:rPr>
              <a:t>Clear separation between Processed and Priority items.</a:t>
            </a:r>
            <a:endParaRPr lang="en-US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Audit Logs: </a:t>
            </a:r>
            <a:r>
              <a:rPr lang="en-US" sz="1500" dirty="0">
                <a:solidFill>
                  <a:srgbClr val="E2E8F0"/>
                </a:solidFill>
              </a:rPr>
              <a:t>Local CSV recording of every transaction for traceability.</a:t>
            </a:r>
            <a:endParaRPr lang="en-US" sz="1500" dirty="0"/>
          </a:p>
          <a:p>
            <a:endParaRPr lang="en-US" sz="15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914A093-D76B-0E51-0A19-CACB8FCF8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7790" y="1206326"/>
            <a:ext cx="4742099" cy="474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17344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F0EC88-56D6-74FD-E875-68BD26D9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E09E5CA-F585-6054-B7CA-28F53D3DC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EDE9E-1115-8E46-293A-76E75037C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ts val="3200"/>
              </a:lnSpc>
            </a:pPr>
            <a:r>
              <a:rPr lang="en-US" b="1" dirty="0">
                <a:solidFill>
                  <a:srgbClr val="FFFFFF"/>
                </a:solidFill>
              </a:rPr>
              <a:t>Future Potential: Scaling &amp; Enhancements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6C14F7-A6F6-1C34-01FD-D3AA63E87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88FD68-8930-2B2D-3D4A-9E46EDA21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B38BDD-EE7C-0E11-8BD9-6385CAB02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0108"/>
            <a:ext cx="4855845" cy="42015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E2E8F0"/>
                </a:solidFill>
              </a:rPr>
              <a:t>The project roadmap focuses on expanding system capabilities and transitioning to more robust data management architectures.</a:t>
            </a:r>
          </a:p>
          <a:p>
            <a:pPr>
              <a:lnSpc>
                <a:spcPct val="100000"/>
              </a:lnSpc>
            </a:pPr>
            <a:endParaRPr lang="en-US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Multi-Format Expansion: </a:t>
            </a:r>
            <a:r>
              <a:rPr lang="en-US" sz="1500" dirty="0">
                <a:solidFill>
                  <a:srgbClr val="E2E8F0"/>
                </a:solidFill>
              </a:rPr>
              <a:t>Adding support for PDF attachments and more diverse email layouts.</a:t>
            </a:r>
            <a:endParaRPr lang="en-US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Advanced Analytics: </a:t>
            </a:r>
            <a:r>
              <a:rPr lang="en-US" sz="1500" dirty="0">
                <a:solidFill>
                  <a:srgbClr val="E2E8F0"/>
                </a:solidFill>
              </a:rPr>
              <a:t>Generating local reports on order trends and processing efficiency from audit logs.</a:t>
            </a:r>
            <a:endParaRPr lang="en-US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Database Transition: </a:t>
            </a:r>
            <a:r>
              <a:rPr lang="en-US" sz="1500" dirty="0">
                <a:solidFill>
                  <a:srgbClr val="E2E8F0"/>
                </a:solidFill>
              </a:rPr>
              <a:t>Moving from Excel to a local SQLite database for improved data integrity and concurrency.</a:t>
            </a:r>
            <a:endParaRPr lang="en-US" sz="15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solidFill>
                  <a:schemeClr val="accent4"/>
                </a:solidFill>
              </a:rPr>
              <a:t>Audit Logs: </a:t>
            </a:r>
            <a:r>
              <a:rPr lang="en-US" sz="1500" dirty="0">
                <a:solidFill>
                  <a:srgbClr val="E2E8F0"/>
                </a:solidFill>
              </a:rPr>
              <a:t>Real-time checks against product availability and customer account status.</a:t>
            </a:r>
            <a:endParaRPr lang="en-US" sz="1500" dirty="0"/>
          </a:p>
          <a:p>
            <a:endParaRPr lang="en-US" sz="150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7CD1948-2A09-3CCF-D6BB-D9E3E4482B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7790" y="1206326"/>
            <a:ext cx="4742099" cy="474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9302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9A8DF-5141-B99D-18D8-7BBBD72AF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B0817C3-4881-6757-A06B-2FC36EDA8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4CF00D-DF8D-4FEC-972F-25C4EE0A9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ts val="3200"/>
              </a:lnSpc>
            </a:pPr>
            <a:r>
              <a:rPr lang="en-US" sz="4000" b="1" dirty="0">
                <a:solidFill>
                  <a:srgbClr val="FFFFFF"/>
                </a:solidFill>
              </a:rPr>
              <a:t>Thank You!</a:t>
            </a:r>
            <a:endParaRPr lang="en-US" sz="40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0F0A38-94DF-5694-F56C-01A558DF9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4CA21B-4190-9B7B-42A2-81887F92C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19414D-091C-EB84-90A1-BEDFE58B8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79" y="2510108"/>
            <a:ext cx="4855845" cy="420158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ts val="2200"/>
              </a:lnSpc>
            </a:pPr>
            <a:r>
              <a:rPr lang="en-US" sz="2800" dirty="0">
                <a:solidFill>
                  <a:srgbClr val="E2E8F0"/>
                </a:solidFill>
              </a:rPr>
              <a:t>Questions &amp; Answers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3282019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Systems Engineering Presentation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5B0E1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606</TotalTime>
  <Words>1969</Words>
  <Application>Microsoft Office PowerPoint</Application>
  <PresentationFormat>Widescreen</PresentationFormat>
  <Paragraphs>125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Email Order Processing Automation RPA</vt:lpstr>
      <vt:lpstr>The Problem:  Manual Bottlenecks</vt:lpstr>
      <vt:lpstr>The Solution: Automated Processing</vt:lpstr>
      <vt:lpstr>Implementation Approaches</vt:lpstr>
      <vt:lpstr>Implementation:  Local Automation Stack</vt:lpstr>
      <vt:lpstr>Business Logic: Priority &amp; Routing</vt:lpstr>
      <vt:lpstr>Business Logic: Delivery &amp; ETA</vt:lpstr>
      <vt:lpstr>Reliability: Exception Handling</vt:lpstr>
      <vt:lpstr>Future Potential: Scaling &amp; Enhancements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abdmariotest@outlook.com</dc:creator>
  <cp:lastModifiedBy>abdmariotest@outlook.com</cp:lastModifiedBy>
  <cp:revision>176</cp:revision>
  <dcterms:created xsi:type="dcterms:W3CDTF">2026-01-05T22:07:09Z</dcterms:created>
  <dcterms:modified xsi:type="dcterms:W3CDTF">2026-01-06T18:38:03Z</dcterms:modified>
</cp:coreProperties>
</file>