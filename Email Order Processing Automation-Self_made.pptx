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6" r:id="rId4"/>
    <p:sldId id="267" r:id="rId5"/>
    <p:sldId id="270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78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6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2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13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2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8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38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0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29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8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18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515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EEEEC-2B78-39DC-AFE8-F77B3A6FE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Email Order Processing Automation RPA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53311-F043-E5B2-6874-9EF61B813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Sakka Mohamad-Mario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Zafar Azzam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Al-</a:t>
            </a:r>
            <a:r>
              <a:rPr lang="en-US" sz="1800" dirty="0" err="1"/>
              <a:t>Khalidy</a:t>
            </a:r>
            <a:r>
              <a:rPr lang="en-US" sz="1800" dirty="0"/>
              <a:t> Essam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Mahmoud Abdelrahman</a:t>
            </a:r>
          </a:p>
        </p:txBody>
      </p:sp>
      <p:pic>
        <p:nvPicPr>
          <p:cNvPr id="1028" name="Picture 4" descr="UiPath Logo and symbol, meaning, history, PNG, brand">
            <a:extLst>
              <a:ext uri="{FF2B5EF4-FFF2-40B4-BE49-F238E27FC236}">
                <a16:creationId xmlns:a16="http://schemas.microsoft.com/office/drawing/2014/main" id="{9DA939D3-A530-34DD-7F5B-16E999543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5816" y="1589954"/>
            <a:ext cx="6209544" cy="349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720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15413-791F-2FF6-D806-E8D00CF69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Problem: </a:t>
            </a:r>
            <a:b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Manual Bottlenecks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CAFD7-E59D-CE4A-8FEF-1DF45D3A2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500" dirty="0"/>
              <a:t>Manual order processing creates significant operational challenges that hinder business growth and efficiency:</a:t>
            </a:r>
          </a:p>
          <a:p>
            <a:endParaRPr lang="en-US" sz="15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 dirty="0"/>
              <a:t>High manual effort required for reading emails</a:t>
            </a:r>
            <a:br>
              <a:rPr lang="en-US" sz="1500" dirty="0"/>
            </a:br>
            <a:r>
              <a:rPr lang="en-US" sz="1500" dirty="0"/>
              <a:t>and extracting data.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 dirty="0"/>
              <a:t>Accuracy risks associated with manual data entry into Excel sheets.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 dirty="0"/>
              <a:t>Traceability gaps in tracking processed orders and attachments.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 dirty="0"/>
              <a:t>Response delays for high-value orders due to manual queues.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6DD889A-F332-464C-DB6A-C06A27BF4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0388" y="625683"/>
            <a:ext cx="5551280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51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3DDB4-5D9A-234E-6DDD-0C126888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14D85B-509D-7FE3-2A5A-7BB9605B3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8D725B-CFA7-3B75-66FE-4BF21CFAB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Solution: Automated 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37A21A-25C4-43B5-B3F2-A37B5B741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C5BDAC-6895-EF39-0182-2258C2F8E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1EBF0A-3F36-1900-A048-EDA56DAA8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500" dirty="0"/>
              <a:t>A robust RPA-based automation framework designed to transform manual email order handling into a seamless, local workflow:</a:t>
            </a:r>
          </a:p>
          <a:p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Automated detection of order emails using keywords.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Reliable extraction from Labeled, CSV, and Pipe formats.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Instant updates to the local restock spreadsheet.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Intelligent routing to Processed or Priority folders.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396208A-1347-F857-4FBD-F26879E59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0388" y="625683"/>
            <a:ext cx="5551280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9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AE3AD-48CF-6763-5B42-77356C77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A14B2F9-A7C9-ACE9-D3E6-A860AF18A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5A793-6853-A0A6-EBE0-886E4F48F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Strategic</a:t>
            </a:r>
            <a:b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CF0FAE-595E-1599-3A32-7A05477B4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26ADA0-1352-BD37-FB57-F55CCB9D3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4E4A38-11DF-CA45-232F-4CD28D8B0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4"/>
            <a:ext cx="4443154" cy="3945305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ts val="1800"/>
              </a:lnSpc>
            </a:pPr>
            <a:r>
              <a:rPr lang="en-US" sz="1500" dirty="0"/>
              <a:t>RPA offers a strategic advantage by automating existing local workflows without the need for complex cloud migrations or rigid templates.</a:t>
            </a:r>
          </a:p>
          <a:p>
            <a:endParaRPr lang="en-US" sz="1500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Handles variations in email bodies that standard templates cannot.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Avoids high implementation costs and complex integration of cloud portals.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Provides a robust, configuration-driven framework easier to maintain than custom scripts.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Leverages existing UI/Desktop apps, ideal for local Outlook and Excel environments.</a:t>
            </a:r>
          </a:p>
        </p:txBody>
      </p:sp>
      <p:pic>
        <p:nvPicPr>
          <p:cNvPr id="11" name="Graphic 10" descr="Email">
            <a:extLst>
              <a:ext uri="{FF2B5EF4-FFF2-40B4-BE49-F238E27FC236}">
                <a16:creationId xmlns:a16="http://schemas.microsoft.com/office/drawing/2014/main" id="{E685FC29-849C-AC80-4B57-5DFF98C7C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0388" y="625683"/>
            <a:ext cx="5551280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09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25961-7C55-4EEA-D917-1914C19F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FF5A19-D731-5A7F-2570-4965C0F65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1B40B-7E9F-48E9-9A25-FE055C90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Implementation: 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Local Automation Stack</a:t>
            </a:r>
            <a:endParaRPr lang="en-US" sz="3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998E18-8FE5-E2CB-2ADD-9E814877A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7C3BDF-E5FF-7D69-D973-1148F96A0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0D8660-9F6D-96BC-3CBD-ECB51A37F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510108"/>
            <a:ext cx="4855845" cy="42015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ts val="2200"/>
              </a:lnSpc>
            </a:pPr>
            <a:r>
              <a:rPr lang="en-US" sz="1400" dirty="0"/>
              <a:t>The system leverages a robust, local technology stack to ensure high performance, security, and seamless integration with existing desktop tools.</a:t>
            </a:r>
          </a:p>
          <a:p>
            <a:pPr marL="285750" indent="-285750" algn="l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UiPath Studio: </a:t>
            </a:r>
            <a:r>
              <a:rPr lang="en-US" sz="1400" dirty="0"/>
              <a:t>The core engine used to build modular</a:t>
            </a:r>
            <a:br>
              <a:rPr lang="en-US" sz="1400" dirty="0"/>
            </a:br>
            <a:r>
              <a:rPr lang="en-US" sz="1400" dirty="0"/>
              <a:t>and stable automation sequences.</a:t>
            </a:r>
          </a:p>
          <a:p>
            <a:pPr marL="285750" indent="-285750" algn="l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Outlook Classic: </a:t>
            </a:r>
            <a:r>
              <a:rPr lang="en-US" sz="1400" dirty="0"/>
              <a:t>Direct local integration for fetching</a:t>
            </a:r>
            <a:br>
              <a:rPr lang="en-US" sz="1400" dirty="0"/>
            </a:br>
            <a:r>
              <a:rPr lang="en-US" sz="1400" dirty="0"/>
              <a:t>unread order emails and routing.</a:t>
            </a:r>
          </a:p>
          <a:p>
            <a:pPr marL="285750" indent="-285750" algn="l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Microsoft Excel: </a:t>
            </a:r>
            <a:r>
              <a:rPr lang="en-US" sz="1400" dirty="0"/>
              <a:t>Local storage and management of the</a:t>
            </a:r>
            <a:br>
              <a:rPr lang="en-US" sz="1400" dirty="0"/>
            </a:br>
            <a:r>
              <a:rPr lang="en-US" sz="1400" dirty="0"/>
              <a:t>restock spreadsheet and audit logs.</a:t>
            </a:r>
          </a:p>
          <a:p>
            <a:pPr marL="285750" indent="-285750" algn="l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Local Security: </a:t>
            </a:r>
            <a:r>
              <a:rPr lang="en-US" sz="1400" dirty="0"/>
              <a:t>All data processing and storage remain</a:t>
            </a:r>
            <a:br>
              <a:rPr lang="en-US" sz="1400" dirty="0"/>
            </a:br>
            <a:r>
              <a:rPr lang="en-US" sz="1400" dirty="0"/>
              <a:t>on the workstation for maximum control.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31D0C62-88B2-1B63-E82B-1BF95CED3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3342" y="1553798"/>
            <a:ext cx="1987732" cy="1882921"/>
          </a:xfrm>
          <a:prstGeom prst="rect">
            <a:avLst/>
          </a:prstGeom>
        </p:spPr>
      </p:pic>
      <p:pic>
        <p:nvPicPr>
          <p:cNvPr id="3" name="Graphic 10">
            <a:extLst>
              <a:ext uri="{FF2B5EF4-FFF2-40B4-BE49-F238E27FC236}">
                <a16:creationId xmlns:a16="http://schemas.microsoft.com/office/drawing/2014/main" id="{1E6DE670-E621-396D-02C2-9E7B8D605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6265" y="1735152"/>
            <a:ext cx="1987732" cy="1847007"/>
          </a:xfrm>
          <a:prstGeom prst="rect">
            <a:avLst/>
          </a:prstGeom>
        </p:spPr>
      </p:pic>
      <p:pic>
        <p:nvPicPr>
          <p:cNvPr id="4" name="Picture 4" descr="UiPath Logo and symbol, meaning, history, PNG, brand">
            <a:extLst>
              <a:ext uri="{FF2B5EF4-FFF2-40B4-BE49-F238E27FC236}">
                <a16:creationId xmlns:a16="http://schemas.microsoft.com/office/drawing/2014/main" id="{A68F70C7-B4F7-5621-B7BC-990541504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3342" y="3582159"/>
            <a:ext cx="4340655" cy="227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55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24F32-480F-9FC5-6F88-A1F34FC5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F22C6CF-1ECF-F0B7-7E43-92910CC75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408C80-82FE-F154-44E5-DA07D74E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Business Logic: Priority &amp; Routing</a:t>
            </a:r>
            <a:endParaRPr lang="en-US" sz="3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94DB1F-36D8-196D-9C16-EE2A214E4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0DC564-853D-ED47-50E5-9C2E850A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98A689-AEA2-6C84-88AA-4318115A9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510108"/>
            <a:ext cx="4855845" cy="4201588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400" dirty="0"/>
              <a:t>The system applies deterministic rules to categorize orders and manage email workflow automatically.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accent4"/>
                </a:solidFill>
              </a:rPr>
              <a:t>HighPriority</a:t>
            </a:r>
            <a:r>
              <a:rPr lang="en-US" sz="1400" dirty="0"/>
              <a:t> is assigned when order totals exceed the "Fast Delivery" price threshold.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Standard</a:t>
            </a:r>
            <a:r>
              <a:rPr lang="en-US" sz="1400" dirty="0"/>
              <a:t> status is the default for all other valid, </a:t>
            </a:r>
            <a:r>
              <a:rPr lang="en-US" sz="1400" dirty="0" err="1"/>
              <a:t>parseable</a:t>
            </a:r>
            <a:r>
              <a:rPr lang="en-US" sz="1400" dirty="0"/>
              <a:t> 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accent4"/>
                </a:solidFill>
              </a:rPr>
              <a:t>NeedInfo</a:t>
            </a:r>
            <a:r>
              <a:rPr lang="en-US" sz="1400" b="1" dirty="0">
                <a:solidFill>
                  <a:schemeClr val="accent4"/>
                </a:solidFill>
              </a:rPr>
              <a:t> </a:t>
            </a:r>
            <a:r>
              <a:rPr lang="en-US" sz="1400" dirty="0"/>
              <a:t>routing</a:t>
            </a:r>
            <a:r>
              <a:rPr lang="en-US" sz="1400" b="1" dirty="0">
                <a:solidFill>
                  <a:schemeClr val="accent4"/>
                </a:solidFill>
              </a:rPr>
              <a:t> </a:t>
            </a:r>
            <a:r>
              <a:rPr lang="en-US" sz="1400" dirty="0"/>
              <a:t>flags ambiguous orders for manual review to prevent data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Outcome</a:t>
            </a:r>
            <a:r>
              <a:rPr lang="en-US" sz="1400" dirty="0"/>
              <a:t> folders ensure clear separation between processed,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/>
              <a:t>high priority, and manual review items.</a:t>
            </a:r>
          </a:p>
          <a:p>
            <a:endParaRPr lang="en-US" sz="14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7BACA15-F948-6C67-EC03-E905A571A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3332" y="1441998"/>
            <a:ext cx="3974003" cy="397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244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9DC9F-9FD1-5927-FE3F-3E07EDCF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983609F-A1D9-35C6-B62A-0A04D00FA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5681E-525B-16D4-7B02-E2E65CAB6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Business Logic: Delivery &amp; ETA</a:t>
            </a:r>
            <a:endParaRPr lang="en-US" sz="3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1921E8-5FDA-D172-2580-ED9D60791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8849C7-A674-24AF-843C-F58635296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C38AF0-ADA4-8EBA-63DC-BBCBE196B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510108"/>
            <a:ext cx="4855845" cy="4201588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400" dirty="0"/>
              <a:t>The system automatically computes delivery estimates to provide customers with accurate and timely order fulfillment information.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Fast Delivery: </a:t>
            </a:r>
            <a:r>
              <a:rPr lang="en-US" sz="1400" dirty="0">
                <a:solidFill>
                  <a:srgbClr val="E2E8F0"/>
                </a:solidFill>
              </a:rPr>
              <a:t>Today plus Fast days (applied to all high priority orders).</a:t>
            </a:r>
            <a:endParaRPr lang="en-US" sz="1400" dirty="0"/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Slow Delivery: </a:t>
            </a:r>
            <a:r>
              <a:rPr lang="en-US" sz="1400" dirty="0">
                <a:solidFill>
                  <a:srgbClr val="E2E8F0"/>
                </a:solidFill>
              </a:rPr>
              <a:t>Today plus Slow days (applied to orders with high item quantities).</a:t>
            </a:r>
            <a:endParaRPr lang="en-US" sz="1400" dirty="0"/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Standard Delivery: </a:t>
            </a:r>
            <a:r>
              <a:rPr lang="en-US" sz="1400" dirty="0">
                <a:solidFill>
                  <a:srgbClr val="E2E8F0"/>
                </a:solidFill>
              </a:rPr>
              <a:t>Today plus Slow days (applied to orders with high item quantities).</a:t>
            </a:r>
            <a:endParaRPr lang="en-US" sz="1400" dirty="0"/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Automated Communication: </a:t>
            </a:r>
            <a:r>
              <a:rPr lang="en-US" sz="1400" dirty="0">
                <a:solidFill>
                  <a:srgbClr val="E2E8F0"/>
                </a:solidFill>
              </a:rPr>
              <a:t>Estimates are included in the instant email reply sent to the customer.</a:t>
            </a:r>
            <a:endParaRPr lang="en-US" sz="1400" dirty="0"/>
          </a:p>
          <a:p>
            <a:endParaRPr lang="en-US" sz="14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E0AC6B4-AA11-24ED-4497-511AF0808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7790" y="1206326"/>
            <a:ext cx="4742099" cy="474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69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CE899-D841-CA8D-2E90-5B990D22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67A8BEE-F131-BE7C-9D39-002944477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FA6F7-3475-B298-72A9-E66AD218E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Reliability: Exception Handling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43D111-31F3-D88E-429E-A1808E226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8B7769-7E36-93A3-36BA-2C0A99DBB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9DD153-582E-D1E8-090F-E25352A7F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510108"/>
            <a:ext cx="4855845" cy="42015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E2E8F0"/>
                </a:solidFill>
              </a:rPr>
              <a:t>The system ensures data integrity and operational continuity through intelligent exception management and comprehensive logging.</a:t>
            </a:r>
          </a:p>
          <a:p>
            <a:pPr>
              <a:lnSpc>
                <a:spcPts val="2000"/>
              </a:lnSpc>
            </a:pPr>
            <a:endParaRPr lang="en-US" sz="1400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accent4"/>
                </a:solidFill>
              </a:rPr>
              <a:t>NeedInfo</a:t>
            </a:r>
            <a:r>
              <a:rPr lang="en-US" sz="1400" b="1" dirty="0">
                <a:solidFill>
                  <a:schemeClr val="accent4"/>
                </a:solidFill>
              </a:rPr>
              <a:t> Routing: </a:t>
            </a:r>
            <a:r>
              <a:rPr lang="en-US" sz="1400" dirty="0">
                <a:solidFill>
                  <a:srgbClr val="E2E8F0"/>
                </a:solidFill>
              </a:rPr>
              <a:t>Flagging ambiguous orders for manual review.</a:t>
            </a:r>
            <a:endParaRPr lang="en-US" sz="1400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Failed Folder: </a:t>
            </a:r>
            <a:r>
              <a:rPr lang="en-US" sz="1400" dirty="0">
                <a:solidFill>
                  <a:srgbClr val="E2E8F0"/>
                </a:solidFill>
              </a:rPr>
              <a:t>Isolating system errors for immediate troubleshooting.</a:t>
            </a:r>
            <a:endParaRPr lang="en-US" sz="1400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Outcome Folders: </a:t>
            </a:r>
            <a:r>
              <a:rPr lang="en-US" sz="1400" dirty="0">
                <a:solidFill>
                  <a:srgbClr val="E2E8F0"/>
                </a:solidFill>
              </a:rPr>
              <a:t>Clear separation between Processed and Priority items.</a:t>
            </a:r>
            <a:endParaRPr lang="en-US" sz="1400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Audit Logs: </a:t>
            </a:r>
            <a:r>
              <a:rPr lang="en-US" sz="1400" dirty="0">
                <a:solidFill>
                  <a:srgbClr val="E2E8F0"/>
                </a:solidFill>
              </a:rPr>
              <a:t>Local CSV recording of every transaction for traceability.</a:t>
            </a:r>
            <a:endParaRPr lang="en-US" sz="1400" dirty="0"/>
          </a:p>
          <a:p>
            <a:endParaRPr lang="en-US" sz="14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914A093-D76B-0E51-0A19-CACB8FCF8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7790" y="1206326"/>
            <a:ext cx="4742099" cy="474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17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0EC88-56D6-74FD-E875-68BD26D9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E09E5CA-F585-6054-B7CA-28F53D3DC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EDE9E-1115-8E46-293A-76E75037C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ts val="3200"/>
              </a:lnSpc>
            </a:pPr>
            <a:r>
              <a:rPr lang="en-US" b="1" dirty="0">
                <a:solidFill>
                  <a:srgbClr val="FFFFFF"/>
                </a:solidFill>
              </a:rPr>
              <a:t>Future Potential: Scaling &amp; Enhancements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6C14F7-A6F6-1C34-01FD-D3AA63E87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88FD68-8930-2B2D-3D4A-9E46EDA21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B38BDD-EE7C-0E11-8BD9-6385CAB02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510108"/>
            <a:ext cx="4855845" cy="42015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ts val="2200"/>
              </a:lnSpc>
            </a:pPr>
            <a:r>
              <a:rPr lang="en-US" sz="1400" dirty="0">
                <a:solidFill>
                  <a:srgbClr val="E2E8F0"/>
                </a:solidFill>
              </a:rPr>
              <a:t>The project roadmap focuses on expanding system capabilities and transitioning to more robust data management architectures.</a:t>
            </a:r>
            <a:endParaRPr lang="en-US" sz="1400" dirty="0"/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Multi-Format Expansion: </a:t>
            </a:r>
            <a:r>
              <a:rPr lang="en-US" sz="1400" dirty="0">
                <a:solidFill>
                  <a:srgbClr val="E2E8F0"/>
                </a:solidFill>
              </a:rPr>
              <a:t>Adding support for PDF attachments and more diverse email layouts.</a:t>
            </a:r>
            <a:endParaRPr lang="en-US" sz="1400" dirty="0"/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Advanced Analytics: </a:t>
            </a:r>
            <a:r>
              <a:rPr lang="en-US" sz="1400" dirty="0">
                <a:solidFill>
                  <a:srgbClr val="E2E8F0"/>
                </a:solidFill>
              </a:rPr>
              <a:t>Generating local reports on order trends and processing efficiency from audit logs.</a:t>
            </a:r>
            <a:endParaRPr lang="en-US" sz="1400" dirty="0"/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Database Transition: </a:t>
            </a:r>
            <a:r>
              <a:rPr lang="en-US" sz="1400" dirty="0">
                <a:solidFill>
                  <a:srgbClr val="E2E8F0"/>
                </a:solidFill>
              </a:rPr>
              <a:t>Moving from Excel to a local SQLite database for improved data integrity and concurrency.</a:t>
            </a:r>
            <a:endParaRPr lang="en-US" sz="1400" dirty="0"/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Audit Logs: </a:t>
            </a:r>
            <a:r>
              <a:rPr lang="en-US" sz="1400" dirty="0">
                <a:solidFill>
                  <a:srgbClr val="E2E8F0"/>
                </a:solidFill>
              </a:rPr>
              <a:t>Real-time checks against product availability and customer account status.</a:t>
            </a:r>
            <a:endParaRPr lang="en-US" sz="1400" dirty="0"/>
          </a:p>
          <a:p>
            <a:endParaRPr lang="en-US" sz="14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7CD1948-2A09-3CCF-D6BB-D9E3E4482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7790" y="1206326"/>
            <a:ext cx="4742099" cy="474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93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9A8DF-5141-B99D-18D8-7BBBD72AF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B0817C3-4881-6757-A06B-2FC36EDA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CF00D-DF8D-4FEC-972F-25C4EE0A9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ts val="3200"/>
              </a:lnSpc>
            </a:pPr>
            <a:r>
              <a:rPr lang="en-US" sz="4000" b="1" dirty="0">
                <a:solidFill>
                  <a:srgbClr val="FFFFFF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0F0A38-94DF-5694-F56C-01A558DF9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4CA21B-4190-9B7B-42A2-81887F92C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19414D-091C-EB84-90A1-BEDFE58B8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510108"/>
            <a:ext cx="4855845" cy="42015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ts val="2200"/>
              </a:lnSpc>
            </a:pPr>
            <a:r>
              <a:rPr lang="en-US" sz="2800" dirty="0">
                <a:solidFill>
                  <a:srgbClr val="E2E8F0"/>
                </a:solidFill>
              </a:rPr>
              <a:t>Questions &amp; Answers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32820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ystems Engineering Presentation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5B0E1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</TotalTime>
  <Words>617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Email Order Processing Automation RPA</vt:lpstr>
      <vt:lpstr>The Problem:  Manual Bottlenecks</vt:lpstr>
      <vt:lpstr>The Solution: Automated Processing</vt:lpstr>
      <vt:lpstr>Strategic Comparison</vt:lpstr>
      <vt:lpstr>Implementation:  Local Automation Stack</vt:lpstr>
      <vt:lpstr>Business Logic: Priority &amp; Routing</vt:lpstr>
      <vt:lpstr>Business Logic: Delivery &amp; ETA</vt:lpstr>
      <vt:lpstr>Reliability: Exception Handling</vt:lpstr>
      <vt:lpstr>Future Potential: Scaling &amp; Enhancements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abdmariotest@outlook.com</dc:creator>
  <cp:lastModifiedBy>abdmariotest@outlook.com</cp:lastModifiedBy>
  <cp:revision>113</cp:revision>
  <dcterms:created xsi:type="dcterms:W3CDTF">2026-01-05T22:07:09Z</dcterms:created>
  <dcterms:modified xsi:type="dcterms:W3CDTF">2026-01-06T01:37:22Z</dcterms:modified>
</cp:coreProperties>
</file>